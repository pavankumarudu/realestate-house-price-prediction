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jpe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84" r:id="rId2"/>
    <p:sldId id="257" r:id="rId3"/>
    <p:sldId id="282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81" r:id="rId14"/>
    <p:sldId id="28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HARUN DUMAL" initials="TD" lastIdx="1" clrIdx="0">
    <p:extLst>
      <p:ext uri="{19B8F6BF-5375-455C-9EA6-DF929625EA0E}">
        <p15:presenceInfo xmlns:p15="http://schemas.microsoft.com/office/powerpoint/2012/main" userId="0eb57e867b823eb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presProps" Target="presProps.xml" /><Relationship Id="rId3" Type="http://schemas.openxmlformats.org/officeDocument/2006/relationships/slide" Target="slides/slide2.xml" /><Relationship Id="rId21" Type="http://schemas.openxmlformats.org/officeDocument/2006/relationships/tableStyles" Target="tableStyle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commentAuthors" Target="commentAuthors.xml" /><Relationship Id="rId2" Type="http://schemas.openxmlformats.org/officeDocument/2006/relationships/slide" Target="slides/slide1.xml" /><Relationship Id="rId16" Type="http://schemas.openxmlformats.org/officeDocument/2006/relationships/notesMaster" Target="notesMasters/notesMaster1.xml" /><Relationship Id="rId20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141CA4-B072-4A5E-A93A-D3F83B72D581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DD5FFF9-5AA0-914C-BC39-D17ABCA478BC}" type="pres">
      <dgm:prSet presAssocID="{A8141CA4-B072-4A5E-A93A-D3F83B72D58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</dgm:ptLst>
  <dgm:cxnLst>
    <dgm:cxn modelId="{047ADC1E-6EF7-FE4E-B1E4-082959BB1B63}" type="presOf" srcId="{A8141CA4-B072-4A5E-A93A-D3F83B72D581}" destId="{2DD5FFF9-5AA0-914C-BC39-D17ABCA478BC}" srcOrd="0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6614FC-F879-D147-9434-D97D4B9164FF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F87C77-3F0D-5F4D-96C3-399641918B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359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2. </a:t>
            </a:r>
            <a:r>
              <a:rPr lang="en-IN" dirty="0" err="1"/>
              <a:t>Reasearch</a:t>
            </a:r>
            <a:r>
              <a:rPr lang="en-IN" dirty="0"/>
              <a:t> and Planning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F87C77-3F0D-5F4D-96C3-399641918B0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4614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F87C77-3F0D-5F4D-96C3-399641918B0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7939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04406-9FC5-ACFE-893D-D4EADEB1A8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388" y="745442"/>
            <a:ext cx="8132227" cy="3559859"/>
          </a:xfrm>
        </p:spPr>
        <p:txBody>
          <a:bodyPr anchor="t">
            <a:normAutofit/>
          </a:bodyPr>
          <a:lstStyle>
            <a:lvl1pPr algn="l">
              <a:defRPr sz="40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0AF19C-C14B-F137-2DE9-199245904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308" y="4669316"/>
            <a:ext cx="8132227" cy="1350484"/>
          </a:xfrm>
        </p:spPr>
        <p:txBody>
          <a:bodyPr anchor="b">
            <a:normAutofit/>
          </a:bodyPr>
          <a:lstStyle>
            <a:lvl1pPr marL="0" indent="0" algn="l">
              <a:buNone/>
              <a:defRPr sz="15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6A999-B8D4-1774-9F1B-9F9FE1B3B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E3B7B-C7B5-42CF-90CF-67B3D21B2314}" type="datetime1">
              <a:rPr lang="en-US" smtClean="0"/>
              <a:t>10/19/2024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65D5D-2AE2-6F91-D1EB-6DD8FC3CE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029E4-3A4E-970A-17A8-1E17D37D1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5058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5D22A-1F6D-0DE5-E04A-DC466353D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ADD6F-7C93-3CD3-AC8D-28A78787C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06E74-14FC-84D9-4B41-7D9FB0D57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6519-E62D-4F8C-AE1E-36928EC7D15C}" type="datetime1">
              <a:rPr lang="en-US" smtClean="0"/>
              <a:t>10/19/2024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5A7DC-6292-6181-949E-F8BC3FA11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0F5C6-EADC-E072-B19B-49BB11DF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7474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B2054-1AE7-534F-0CFE-1F0628A09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139" y="2243709"/>
            <a:ext cx="9156288" cy="3776091"/>
          </a:xfrm>
        </p:spPr>
        <p:txBody>
          <a:bodyPr anchor="b">
            <a:normAutofit/>
          </a:bodyPr>
          <a:lstStyle>
            <a:lvl1pPr>
              <a:defRPr sz="49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8EC2A-45C7-131C-0F4A-56E62EB02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0138" y="838201"/>
            <a:ext cx="9156289" cy="1405508"/>
          </a:xfrm>
        </p:spPr>
        <p:txBody>
          <a:bodyPr>
            <a:normAutofit/>
          </a:bodyPr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5A323-2679-E978-8856-2FEBE8F5A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7AEB6-FCE1-4CD5-923B-84E54F1460D5}" type="datetime1">
              <a:rPr lang="en-US" smtClean="0"/>
              <a:t>10/19/2024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71DC2-625E-0477-BF8C-F3CDDCE4B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1A644-D449-E464-C2DF-F045A5189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806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12719-44A3-3EE8-D757-F0E0F9632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198" y="750627"/>
            <a:ext cx="10846556" cy="130415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40DC2-69F2-A056-508C-F5138E71F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56961" y="2075250"/>
            <a:ext cx="4571288" cy="4101492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A2243E-0673-54F2-5B38-DF5D2C736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9562" y="2075250"/>
            <a:ext cx="4770191" cy="4101492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946B7D-7BAF-8DE9-FB5A-282908B03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74C2F-71A1-43C9-B2F6-A4FAC8157F1A}" type="datetime1">
              <a:rPr lang="en-US" smtClean="0"/>
              <a:t>10/19/2024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F99017-BDD7-56C7-43AE-4B86AC781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6E7D63-14BF-E333-B350-75DA58E28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164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7F72-3970-859F-C268-E9940EF2D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650" y="743803"/>
            <a:ext cx="10764271" cy="102536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37CC6-89B8-3CF3-6973-1B5B71782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6962" y="1769166"/>
            <a:ext cx="4571287" cy="815008"/>
          </a:xfrm>
        </p:spPr>
        <p:txBody>
          <a:bodyPr anchor="b">
            <a:noAutofit/>
          </a:bodyPr>
          <a:lstStyle>
            <a:lvl1pPr marL="0" indent="0">
              <a:buNone/>
              <a:defRPr sz="1500" b="0" cap="all" spc="75" baseline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650EB0-E35B-DA3D-B6A1-2422B01C60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56962" y="2678597"/>
            <a:ext cx="4571287" cy="35067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7A15D0-F178-1506-0E61-C8FFDF9BD6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8634" y="1769166"/>
            <a:ext cx="4571287" cy="815008"/>
          </a:xfrm>
        </p:spPr>
        <p:txBody>
          <a:bodyPr anchor="b">
            <a:noAutofit/>
          </a:bodyPr>
          <a:lstStyle>
            <a:lvl1pPr marL="0" indent="0">
              <a:buNone/>
              <a:defRPr sz="1500" b="0" cap="all" spc="75" baseline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6CB421-A65A-A7DC-40A7-D8B76F9C3A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98634" y="2678598"/>
            <a:ext cx="4571287" cy="35067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AF5675-5329-D2DB-FAFF-700D076CA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31DCC-9916-4BB7-A2E9-25EC84C740A7}" type="datetime1">
              <a:rPr lang="en-US" smtClean="0"/>
              <a:t>10/19/2024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392A97-07D9-5E5C-2A31-3B7D764CE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626143-8FEE-0ABD-25C7-C34AF6568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755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26EFE-D86C-B076-D4D1-FAD1883E0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757766"/>
            <a:ext cx="7240293" cy="354753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3F3B23-C631-4B62-3211-30222ABE1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9146A-335D-4B7F-86AE-5D483B1F631C}" type="datetime1">
              <a:rPr lang="en-US" smtClean="0"/>
              <a:t>10/19/2024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89A1FB-EA0D-F6A3-A4EB-001AA082A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D671B7-A902-587D-89D0-ECFB738FD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310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A27D49-E5B4-0E67-FCFC-62A04E705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1D8EC-8E17-4CE6-99C2-C22488572868}" type="datetime1">
              <a:rPr lang="en-US" smtClean="0"/>
              <a:t>10/19/2024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0E4B02-DD32-C63F-6FEE-BC36E2EFD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5FA8B-18F7-7DDC-74E0-B1C7139E7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863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D42A-8FC3-F6BE-4CF7-1490DE4FD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397" y="766636"/>
            <a:ext cx="3951745" cy="1510628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A2BAA-1CCB-696D-D506-5E1747080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5401" y="702454"/>
            <a:ext cx="6249988" cy="531734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B3C3E7-B970-EF6C-A6D3-6CB81C948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3953" y="2277264"/>
            <a:ext cx="3752747" cy="3742535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32464-D130-7DA0-050D-B444566B1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50ABA-DFFA-4B13-BB77-624D9164A38B}" type="datetime1">
              <a:rPr lang="en-US" smtClean="0"/>
              <a:t>10/19/2024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C2B3B4-209E-187A-6F86-2F2EAD9F7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6A2A86-6CB1-F027-66AC-8EBFA9D06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219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68F49-A418-C21F-25DC-E4C2E1716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972" y="765850"/>
            <a:ext cx="3995693" cy="1774778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78CDE2-0C1B-D3BE-F399-98D983EF45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05401" y="838201"/>
            <a:ext cx="6249988" cy="518159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786322-CA2D-A634-C10E-4F22BCE48B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0137" y="2552701"/>
            <a:ext cx="3736563" cy="3467099"/>
          </a:xfrm>
        </p:spPr>
        <p:txBody>
          <a:bodyPr anchor="b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AD0DD6-F55F-4437-DEC5-FA6028509A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3"/>
            <a:ext cx="2743200" cy="318221"/>
          </a:xfrm>
        </p:spPr>
        <p:txBody>
          <a:bodyPr/>
          <a:lstStyle/>
          <a:p>
            <a:fld id="{3220A08F-2B1D-4498-A043-7C299B1C2561}" type="datetime1">
              <a:rPr lang="en-US" smtClean="0"/>
              <a:t>10/19/2024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5B46D7-EE7C-E399-6A6B-18237228F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11B808-3207-D755-3B0B-E1D8814B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643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CDEBC-9F49-FA9D-D13C-DB380A628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8" y="757451"/>
            <a:ext cx="10875953" cy="121465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00CB13-23E6-D711-450C-A85A0CB995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35467" y="1972101"/>
            <a:ext cx="10848873" cy="40476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9BB7B-5C14-76DB-FEA8-3DBC09A96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D9902-F134-45BD-ABD2-80C28059B090}" type="datetime1">
              <a:rPr lang="en-US" smtClean="0"/>
              <a:t>10/19/2024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C13CC-29B3-9FDC-C746-D5D65CC2A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52A12-895F-E9BE-5289-4E0411BD3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623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A17614-2270-537D-8B09-6CB65016AD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359496" y="755983"/>
            <a:ext cx="2277552" cy="53383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BC98B5-885C-CBB1-A858-76F65F7D28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755983"/>
            <a:ext cx="8230087" cy="5338369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5DAFE-6A83-FB7D-72DF-232EFE204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04DB0-379A-41B7-9B29-7F42F0D571D5}" type="datetime1">
              <a:rPr lang="en-US" smtClean="0"/>
              <a:t>10/19/2024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41CCF-A3CD-506E-3AAE-CAEFA8C1B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0DD9D-25C2-0EDF-A6F4-71946D57B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321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FF45E2-9197-4E34-029A-725ADAC0C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8" y="620202"/>
            <a:ext cx="9956747" cy="14387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CC19E-63FE-1D76-2550-01FD9A6D9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468" y="2306783"/>
            <a:ext cx="9956747" cy="38701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FA067-55BA-33CD-E6F2-B24B2D5DE8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0137" y="63203"/>
            <a:ext cx="2743200" cy="3182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</a:defRPr>
            </a:lvl1pPr>
          </a:lstStyle>
          <a:p>
            <a:fld id="{567E9B64-DC09-41C8-9DE3-DA74AF8D2F97}" type="datetime1">
              <a:rPr lang="en-US" smtClean="0"/>
              <a:t>10/19/2024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5EAE2-7EF5-FFAA-CD74-AA63C67119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44016" y="6424763"/>
            <a:ext cx="40599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 b="0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9DC1A-2539-3AE9-11EA-B87D22E62C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3951" y="6425818"/>
            <a:ext cx="4297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/>
                </a:solidFill>
              </a:defRPr>
            </a:lvl1pPr>
          </a:lstStyle>
          <a:p>
            <a:fld id="{6E91CC32-6A6B-4E2E-BBA1-6864F305DA2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7314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528" userDrawn="1">
          <p15:clr>
            <a:srgbClr val="F26B43"/>
          </p15:clr>
        </p15:guide>
        <p15:guide id="17" orient="horz" pos="2160" userDrawn="1">
          <p15:clr>
            <a:srgbClr val="F26B43"/>
          </p15:clr>
        </p15:guide>
        <p15:guide id="18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9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9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 /><Relationship Id="rId3" Type="http://schemas.openxmlformats.org/officeDocument/2006/relationships/diagramData" Target="../diagrams/data1.xml" /><Relationship Id="rId7" Type="http://schemas.microsoft.com/office/2007/relationships/diagramDrawing" Target="../diagrams/drawing1.xml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9.xml" /><Relationship Id="rId6" Type="http://schemas.openxmlformats.org/officeDocument/2006/relationships/diagramColors" Target="../diagrams/colors1.xml" /><Relationship Id="rId5" Type="http://schemas.openxmlformats.org/officeDocument/2006/relationships/diagramQuickStyle" Target="../diagrams/quickStyle1.xml" /><Relationship Id="rId4" Type="http://schemas.openxmlformats.org/officeDocument/2006/relationships/diagramLayout" Target="../diagrams/layout1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mp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4ED19A1-7C17-EFCB-6F90-604C6F801280}"/>
              </a:ext>
            </a:extLst>
          </p:cNvPr>
          <p:cNvSpPr txBox="1"/>
          <p:nvPr/>
        </p:nvSpPr>
        <p:spPr>
          <a:xfrm rot="10800000" flipV="1">
            <a:off x="913428" y="2531071"/>
            <a:ext cx="120301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4800" dirty="0"/>
              <a:t>Machine Learning and Data Science </a:t>
            </a:r>
          </a:p>
          <a:p>
            <a:pPr algn="l"/>
            <a:r>
              <a:rPr lang="en-IN" sz="4800" dirty="0"/>
              <a:t>                         Project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DC072C-7BD0-4C52-153E-91DDA641008B}"/>
              </a:ext>
            </a:extLst>
          </p:cNvPr>
          <p:cNvSpPr txBox="1"/>
          <p:nvPr/>
        </p:nvSpPr>
        <p:spPr>
          <a:xfrm>
            <a:off x="5853380" y="4501615"/>
            <a:ext cx="1828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/>
              <a:t>By</a:t>
            </a:r>
            <a:endParaRPr lang="en-US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449C3D-4302-C806-2B4E-1F489E5C68CB}"/>
              </a:ext>
            </a:extLst>
          </p:cNvPr>
          <p:cNvSpPr txBox="1"/>
          <p:nvPr/>
        </p:nvSpPr>
        <p:spPr>
          <a:xfrm>
            <a:off x="4195097" y="5425718"/>
            <a:ext cx="462939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4400" dirty="0"/>
              <a:t>Team Techies </a:t>
            </a:r>
            <a:endParaRPr lang="en-US" sz="4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BF12F9-3FF2-3C09-308E-AC2D59284D90}"/>
              </a:ext>
            </a:extLst>
          </p:cNvPr>
          <p:cNvSpPr txBox="1"/>
          <p:nvPr/>
        </p:nvSpPr>
        <p:spPr>
          <a:xfrm>
            <a:off x="9966796" y="4100732"/>
            <a:ext cx="637360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3200" dirty="0"/>
              <a:t>D. </a:t>
            </a:r>
            <a:r>
              <a:rPr lang="en-IN" sz="3200" dirty="0" err="1"/>
              <a:t>Tharun</a:t>
            </a:r>
            <a:r>
              <a:rPr lang="en-IN" sz="3200" dirty="0"/>
              <a:t> </a:t>
            </a:r>
          </a:p>
          <a:p>
            <a:pPr algn="l"/>
            <a:r>
              <a:rPr lang="en-IN" sz="3200" dirty="0" err="1"/>
              <a:t>G.Pavan</a:t>
            </a:r>
            <a:r>
              <a:rPr lang="en-IN" sz="3200" dirty="0"/>
              <a:t> </a:t>
            </a:r>
          </a:p>
          <a:p>
            <a:pPr algn="l"/>
            <a:r>
              <a:rPr lang="en-IN" sz="3200" dirty="0" err="1"/>
              <a:t>N.Naresh</a:t>
            </a:r>
            <a:endParaRPr lang="en-IN" sz="3200" dirty="0"/>
          </a:p>
          <a:p>
            <a:pPr algn="l"/>
            <a:r>
              <a:rPr lang="en-IN" sz="3200" dirty="0" err="1"/>
              <a:t>K.Nagesh</a:t>
            </a:r>
            <a:endParaRPr lang="en-IN" sz="3200" dirty="0"/>
          </a:p>
          <a:p>
            <a:pPr algn="l"/>
            <a:r>
              <a:rPr lang="en-IN" sz="3200" dirty="0" err="1"/>
              <a:t>SL.Phani</a:t>
            </a:r>
            <a:endParaRPr lang="en-IN" sz="3200" dirty="0"/>
          </a:p>
          <a:p>
            <a:pPr algn="l"/>
            <a:endParaRPr lang="en-US"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844BC6-B6B5-EF93-3126-C79107732440}"/>
              </a:ext>
            </a:extLst>
          </p:cNvPr>
          <p:cNvSpPr txBox="1"/>
          <p:nvPr/>
        </p:nvSpPr>
        <p:spPr>
          <a:xfrm>
            <a:off x="3812649" y="301450"/>
            <a:ext cx="59102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6000"/>
              <a:t>WELCOME </a:t>
            </a:r>
            <a:endParaRPr lang="en-US" sz="6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6878C9-8EAB-2A1B-7743-DFBE63BE5973}"/>
              </a:ext>
            </a:extLst>
          </p:cNvPr>
          <p:cNvSpPr txBox="1"/>
          <p:nvPr/>
        </p:nvSpPr>
        <p:spPr>
          <a:xfrm>
            <a:off x="5685234" y="1646474"/>
            <a:ext cx="1828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/>
              <a:t>To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49F083-5E6C-E514-ED64-C1F28C95062E}"/>
              </a:ext>
            </a:extLst>
          </p:cNvPr>
          <p:cNvSpPr txBox="1"/>
          <p:nvPr/>
        </p:nvSpPr>
        <p:spPr>
          <a:xfrm rot="10800000" flipH="1" flipV="1">
            <a:off x="424219" y="5024835"/>
            <a:ext cx="28261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dirty="0"/>
              <a:t>CSE Dept.</a:t>
            </a:r>
          </a:p>
          <a:p>
            <a:pPr algn="l"/>
            <a:r>
              <a:rPr lang="en-IN" dirty="0"/>
              <a:t>||| Year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808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4B04182-BBFB-AB05-0885-6E210C0029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85725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545080" y="559165"/>
            <a:ext cx="11101840" cy="818495"/>
          </a:xfrm>
        </p:spPr>
        <p:txBody>
          <a:bodyPr anchor="t">
            <a:normAutofit/>
          </a:bodyPr>
          <a:lstStyle/>
          <a:p>
            <a:r>
              <a:rPr lang="en-US" sz="4800" dirty="0"/>
              <a:t>Real Estate Price Prediction Website 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3939950" y="1898070"/>
            <a:ext cx="8305552" cy="5143492"/>
          </a:xfrm>
        </p:spPr>
        <p:txBody>
          <a:bodyPr anchor="b">
            <a:noAutofit/>
          </a:bodyPr>
          <a:lstStyle/>
          <a:p>
            <a:pPr>
              <a:lnSpc>
                <a:spcPct val="110000"/>
              </a:lnSpc>
            </a:pPr>
            <a:r>
              <a:rPr lang="en-US" sz="3600" dirty="0"/>
              <a:t>Developing a website for real estate price prediction involves multiple stages, from conceptualizing the idea to building the predictive model and designing a user-friendly interface. Here’s a step-by-step guide to help you through the process:
</a:t>
            </a:r>
          </a:p>
        </p:txBody>
      </p:sp>
      <p:pic>
        <p:nvPicPr>
          <p:cNvPr id="4" name="Picture 3" descr="A midsection of a person holding a miniature house">
            <a:extLst>
              <a:ext uri="{FF2B5EF4-FFF2-40B4-BE49-F238E27FC236}">
                <a16:creationId xmlns:a16="http://schemas.microsoft.com/office/drawing/2014/main" id="{FA8C8EB9-7C48-0FEF-5555-AB50933E1F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028" r="21069" b="-7"/>
          <a:stretch/>
        </p:blipFill>
        <p:spPr>
          <a:xfrm>
            <a:off x="0" y="1898070"/>
            <a:ext cx="3619500" cy="4959930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0A9DAAC-F7B7-042A-E804-767CFDFC969C}"/>
              </a:ext>
            </a:extLst>
          </p:cNvPr>
          <p:cNvSpPr txBox="1"/>
          <p:nvPr/>
        </p:nvSpPr>
        <p:spPr>
          <a:xfrm>
            <a:off x="5457087" y="3527144"/>
            <a:ext cx="1371600" cy="1371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3399150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C01B9-E76F-5A8C-4DE0-33A5F53A8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082" y="221148"/>
            <a:ext cx="7559836" cy="567960"/>
          </a:xfrm>
        </p:spPr>
        <p:txBody>
          <a:bodyPr>
            <a:noAutofit/>
          </a:bodyPr>
          <a:lstStyle/>
          <a:p>
            <a:r>
              <a:rPr lang="en-IN" sz="6600" baseline="-25000" dirty="0"/>
              <a:t>1. Research and Planning </a:t>
            </a:r>
            <a:endParaRPr lang="en-US" sz="6600" baseline="-25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6D2198-F7B2-0078-E075-11A54C9BD6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8281" y="4364312"/>
            <a:ext cx="8411766" cy="3696890"/>
          </a:xfrm>
        </p:spPr>
        <p:txBody>
          <a:bodyPr>
            <a:no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IN" sz="2800" dirty="0"/>
              <a:t>Understand the market: Study the real estate industry and what influences property prices (e.g., location, size, number of rooms, nearby amenities, etc.).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IN" sz="2800" dirty="0"/>
              <a:t>Define the goal: Identify the purpose of your website. Is it for general users, real estate agents, or investors?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IN" sz="2800" dirty="0"/>
              <a:t>Competitor Analysis: Look at similar websites to understand what features they offer, like Zillow or </a:t>
            </a:r>
            <a:r>
              <a:rPr lang="en-IN" sz="2800" dirty="0" err="1"/>
              <a:t>Redfin</a:t>
            </a:r>
            <a:r>
              <a:rPr lang="en-IN" sz="2800" dirty="0"/>
              <a:t>.</a:t>
            </a:r>
          </a:p>
          <a:p>
            <a:endParaRPr lang="en-IN" sz="2800" dirty="0"/>
          </a:p>
          <a:p>
            <a:endParaRPr lang="en-US" sz="280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23E26-957A-2E95-2144-5F81829B6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EC455F-CC80-29FE-D0E2-575F2A4AB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3</a:t>
            </a:fld>
            <a:endParaRPr lang="en-US"/>
          </a:p>
        </p:txBody>
      </p:sp>
      <p:pic>
        <p:nvPicPr>
          <p:cNvPr id="16" name="Picture Placeholder 7">
            <a:extLst>
              <a:ext uri="{FF2B5EF4-FFF2-40B4-BE49-F238E27FC236}">
                <a16:creationId xmlns:a16="http://schemas.microsoft.com/office/drawing/2014/main" id="{D557DDFA-10DE-6579-2045-12CBD0DA64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86" r="12886"/>
          <a:stretch/>
        </p:blipFill>
        <p:spPr>
          <a:xfrm>
            <a:off x="8738591" y="1435588"/>
            <a:ext cx="3453408" cy="535430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84E716EC-90D6-9091-5A10-F20F1D484A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55792" y="-5725502"/>
            <a:ext cx="4687491" cy="3886199"/>
          </a:xfrm>
        </p:spPr>
      </p:sp>
    </p:spTree>
    <p:extLst>
      <p:ext uri="{BB962C8B-B14F-4D97-AF65-F5344CB8AC3E}">
        <p14:creationId xmlns:p14="http://schemas.microsoft.com/office/powerpoint/2010/main" val="778445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3287853" y="270123"/>
            <a:ext cx="5616294" cy="395140"/>
          </a:xfrm>
        </p:spPr>
        <p:txBody>
          <a:bodyPr anchor="t">
            <a:normAutofit fontScale="90000"/>
          </a:bodyPr>
          <a:lstStyle/>
          <a:p>
            <a:r>
              <a:rPr lang="en-US" sz="4400" dirty="0"/>
              <a:t>2. Data Collection 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71B7F1AF-03E2-4918-3866-2A2AC9483EA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601" b="17601"/>
          <a:stretch/>
        </p:blipFill>
        <p:spPr>
          <a:xfrm>
            <a:off x="-63418" y="1625202"/>
            <a:ext cx="4028199" cy="521270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3" name="Content Placeholder"/>
          <p:cNvSpPr>
            <a:spLocks noGrp="1"/>
          </p:cNvSpPr>
          <p:nvPr>
            <p:ph type="body" sz="half" idx="2"/>
          </p:nvPr>
        </p:nvSpPr>
        <p:spPr>
          <a:xfrm>
            <a:off x="4113612" y="3120778"/>
            <a:ext cx="8227218" cy="3467099"/>
          </a:xfrm>
        </p:spPr>
        <p:txBody>
          <a:bodyPr anchor="b">
            <a:noAutofit/>
          </a:bodyPr>
          <a:lstStyle/>
          <a:p>
            <a:pPr marL="457200" lvl="0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Data Sources: Gather real estate data from reliable sources like government property databases, MLS (Multiple Listing Services), or third-party APIs like Zillow API, Redfin API, or Kaggle datasets.</a:t>
            </a:r>
            <a:endParaRPr lang="en-IN" sz="2800" dirty="0"/>
          </a:p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Data Features: Collect features such as property location (latitude, longitude), square footage, number of rooms, age, nearby facilities (schools, hospitals), and previous sales history.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BDB903-64D4-C052-C170-E9D7A0375A4C}"/>
              </a:ext>
            </a:extLst>
          </p:cNvPr>
          <p:cNvSpPr txBox="1"/>
          <p:nvPr/>
        </p:nvSpPr>
        <p:spPr>
          <a:xfrm>
            <a:off x="5372249" y="2723108"/>
            <a:ext cx="1371600" cy="1371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3930788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0C58FCB-AB15-8F2D-ECB3-614828E436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85725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942764" y="208874"/>
            <a:ext cx="10306471" cy="1289501"/>
          </a:xfrm>
        </p:spPr>
        <p:txBody>
          <a:bodyPr anchor="t">
            <a:noAutofit/>
          </a:bodyPr>
          <a:lstStyle/>
          <a:p>
            <a:r>
              <a:rPr lang="en-US" dirty="0"/>
              <a:t>3.</a:t>
            </a:r>
            <a:r>
              <a:rPr lang="en-IN" dirty="0"/>
              <a:t> </a:t>
            </a:r>
            <a:r>
              <a:rPr lang="en-US" dirty="0"/>
              <a:t>Data Cleaning and Pre </a:t>
            </a:r>
            <a:r>
              <a:rPr lang="en-IN" dirty="0"/>
              <a:t>-</a:t>
            </a:r>
            <a:r>
              <a:rPr lang="en-US" dirty="0"/>
              <a:t>processing </a:t>
            </a:r>
          </a:p>
        </p:txBody>
      </p:sp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137195" y="3429000"/>
            <a:ext cx="8238852" cy="3288911"/>
          </a:xfrm>
        </p:spPr>
        <p:txBody>
          <a:bodyPr anchor="b">
            <a:noAutofit/>
          </a:bodyPr>
          <a:lstStyle/>
          <a:p>
            <a:pPr lvl="0">
              <a:lnSpc>
                <a:spcPct val="110000"/>
              </a:lnSpc>
            </a:pPr>
            <a:r>
              <a:rPr lang="en-US" sz="2800" dirty="0"/>
              <a:t>Handle missing data: Impute missing values or remove incomplete entries</a:t>
            </a:r>
            <a:r>
              <a:rPr lang="en-IN" sz="2800" dirty="0"/>
              <a:t>.</a:t>
            </a:r>
          </a:p>
          <a:p>
            <a:pPr>
              <a:lnSpc>
                <a:spcPct val="110000"/>
              </a:lnSpc>
            </a:pPr>
            <a:r>
              <a:rPr lang="en-US" sz="2800" dirty="0"/>
              <a:t>Standardize values: Ensure consistent units (e.g., square feet, square meters).</a:t>
            </a:r>
            <a:endParaRPr lang="en-IN" sz="2800" dirty="0"/>
          </a:p>
          <a:p>
            <a:pPr>
              <a:lnSpc>
                <a:spcPct val="110000"/>
              </a:lnSpc>
            </a:pPr>
            <a:r>
              <a:rPr lang="en-US" sz="2800" dirty="0"/>
              <a:t>Remove outliers: Clean any data points that might disproportionately affect the prediction model.</a:t>
            </a:r>
            <a:endParaRPr lang="en-IN" sz="2800" dirty="0"/>
          </a:p>
          <a:p>
            <a:pPr>
              <a:lnSpc>
                <a:spcPct val="110000"/>
              </a:lnSpc>
            </a:pPr>
            <a:r>
              <a:rPr lang="en-US" sz="2800" dirty="0"/>
              <a:t>Feature Engineering: Create new variables like price per square foot or proximity to amenities, which could improve predictions.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BA0C49-6D3C-21C9-20EB-766E4ECA1D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158" r="11158"/>
          <a:stretch/>
        </p:blipFill>
        <p:spPr>
          <a:xfrm>
            <a:off x="8639213" y="1610968"/>
            <a:ext cx="3552787" cy="524703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60524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0C58FCB-AB15-8F2D-ECB3-614828E436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85725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 rot="10800000" flipV="1">
            <a:off x="283630" y="559212"/>
            <a:ext cx="11624739" cy="1160859"/>
          </a:xfrm>
        </p:spPr>
        <p:txBody>
          <a:bodyPr anchor="t">
            <a:noAutofit/>
          </a:bodyPr>
          <a:lstStyle/>
          <a:p>
            <a:r>
              <a:rPr lang="en-US" dirty="0"/>
              <a:t>4.</a:t>
            </a:r>
            <a:r>
              <a:rPr lang="en-IN" dirty="0"/>
              <a:t> </a:t>
            </a:r>
            <a:r>
              <a:rPr lang="en-US" dirty="0"/>
              <a:t>Developing the Price Prediction model </a:t>
            </a:r>
          </a:p>
        </p:txBody>
      </p:sp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3817668" y="3971499"/>
            <a:ext cx="8374332" cy="2666618"/>
          </a:xfrm>
        </p:spPr>
        <p:txBody>
          <a:bodyPr anchor="b">
            <a:noAutofit/>
          </a:bodyPr>
          <a:lstStyle/>
          <a:p>
            <a:pPr lvl="0">
              <a:lnSpc>
                <a:spcPct val="110000"/>
              </a:lnSpc>
            </a:pPr>
            <a:r>
              <a:rPr lang="en-US" sz="2800" dirty="0"/>
              <a:t>Data Splitting: Split your dataset into training and test sets (usually 80% training, 20% test).</a:t>
            </a:r>
            <a:endParaRPr lang="en-IN" sz="2800" dirty="0"/>
          </a:p>
          <a:p>
            <a:pPr lvl="0">
              <a:lnSpc>
                <a:spcPct val="110000"/>
              </a:lnSpc>
            </a:pPr>
            <a:r>
              <a:rPr lang="en-US" sz="2800" dirty="0"/>
              <a:t>Model Selection:Linear Regression (if relationships are linear)Decision Trees/Random Forest (for handling non-linear data)</a:t>
            </a:r>
            <a:endParaRPr lang="en-IN" sz="2800" dirty="0"/>
          </a:p>
          <a:p>
            <a:pPr lvl="0">
              <a:lnSpc>
                <a:spcPct val="110000"/>
              </a:lnSpc>
            </a:pPr>
            <a:r>
              <a:rPr lang="en-US" sz="2800" dirty="0"/>
              <a:t>Model Training: Train the chosen model on your dataset.</a:t>
            </a:r>
            <a:endParaRPr lang="en-IN" sz="2800" dirty="0"/>
          </a:p>
          <a:p>
            <a:pPr lvl="0">
              <a:lnSpc>
                <a:spcPct val="110000"/>
              </a:lnSpc>
            </a:pPr>
            <a:r>
              <a:rPr lang="en-US" sz="2800" dirty="0"/>
              <a:t>Model Evaluation: Use metrics like Mean Absolute Error (MAE), Root Mean Squared Error (RMSE), and R² to assess performance.</a:t>
            </a:r>
            <a:endParaRPr lang="en-IN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6294A3-E835-761A-DCC3-1DA27EFDA9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439" r="12439"/>
          <a:stretch/>
        </p:blipFill>
        <p:spPr>
          <a:xfrm>
            <a:off x="1" y="1720071"/>
            <a:ext cx="3679030" cy="51435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622699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0C58FCB-AB15-8F2D-ECB3-614828E436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85725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2368068" y="125016"/>
            <a:ext cx="7455864" cy="464344"/>
          </a:xfrm>
        </p:spPr>
        <p:txBody>
          <a:bodyPr anchor="t">
            <a:noAutofit/>
          </a:bodyPr>
          <a:lstStyle/>
          <a:p>
            <a:r>
              <a:rPr lang="en-US" dirty="0"/>
              <a:t>5.</a:t>
            </a:r>
            <a:r>
              <a:rPr lang="en-IN" dirty="0"/>
              <a:t> </a:t>
            </a:r>
            <a:r>
              <a:rPr lang="en-US" dirty="0"/>
              <a:t>Back</a:t>
            </a:r>
            <a:r>
              <a:rPr lang="en-IN" dirty="0"/>
              <a:t>-</a:t>
            </a:r>
            <a:r>
              <a:rPr lang="en-US" dirty="0"/>
              <a:t>end  Development </a:t>
            </a:r>
          </a:p>
        </p:txBody>
      </p:sp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215162" y="4143471"/>
            <a:ext cx="11976838" cy="3428809"/>
          </a:xfrm>
        </p:spPr>
        <p:txBody>
          <a:bodyPr anchor="b">
            <a:noAutofit/>
          </a:bodyPr>
          <a:lstStyle/>
          <a:p>
            <a:pPr lvl="0">
              <a:lnSpc>
                <a:spcPct val="110000"/>
              </a:lnSpc>
            </a:pPr>
            <a:r>
              <a:rPr lang="en-US" sz="2800" dirty="0"/>
              <a:t>Web Framework: Choose a back-end framework to build your web application:</a:t>
            </a:r>
            <a:endParaRPr lang="en-IN" sz="2800" dirty="0"/>
          </a:p>
          <a:p>
            <a:pPr lvl="0">
              <a:lnSpc>
                <a:spcPct val="110000"/>
              </a:lnSpc>
            </a:pPr>
            <a:r>
              <a:rPr lang="en-US" sz="2800" dirty="0"/>
              <a:t>Python (Flask/Django): Common for integrating machine </a:t>
            </a:r>
            <a:r>
              <a:rPr lang="en-IN" sz="2800" dirty="0"/>
              <a:t>Learning</a:t>
            </a:r>
          </a:p>
          <a:p>
            <a:pPr lvl="0">
              <a:lnSpc>
                <a:spcPct val="110000"/>
              </a:lnSpc>
            </a:pPr>
            <a:r>
              <a:rPr lang="en-US" sz="2800" dirty="0"/>
              <a:t>Database Integration:Use a relational database like PostgreSQL or MySQL for structured data (e.g., property listings).</a:t>
            </a:r>
            <a:endParaRPr lang="en-IN" sz="2800" dirty="0"/>
          </a:p>
          <a:p>
            <a:pPr lvl="0">
              <a:lnSpc>
                <a:spcPct val="110000"/>
              </a:lnSpc>
            </a:pPr>
            <a:r>
              <a:rPr lang="en-US" sz="2800" dirty="0"/>
              <a:t>For large-scale data, NoSQL databases like MongoDB could also be an option.</a:t>
            </a:r>
            <a:endParaRPr lang="en-IN" sz="2800" dirty="0"/>
          </a:p>
          <a:p>
            <a:pPr lvl="0">
              <a:lnSpc>
                <a:spcPct val="110000"/>
              </a:lnSpc>
            </a:pPr>
            <a:r>
              <a:rPr lang="en-US" sz="2800" dirty="0"/>
              <a:t>API Development: Create RESTful APIs to handle user requests, such as:</a:t>
            </a:r>
            <a:endParaRPr lang="en-IN" sz="2800" dirty="0"/>
          </a:p>
          <a:p>
            <a:pPr lvl="0">
              <a:lnSpc>
                <a:spcPct val="110000"/>
              </a:lnSpc>
            </a:pPr>
            <a:r>
              <a:rPr lang="en-US" sz="2800" dirty="0"/>
              <a:t>Uploading property details (size, location)Fetching predicted prices based on input</a:t>
            </a:r>
          </a:p>
          <a:p>
            <a:pPr>
              <a:lnSpc>
                <a:spcPct val="110000"/>
              </a:lnSpc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702626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0C58FCB-AB15-8F2D-ECB3-614828E436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85725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2076372" y="237178"/>
            <a:ext cx="8039256" cy="860676"/>
          </a:xfrm>
        </p:spPr>
        <p:txBody>
          <a:bodyPr anchor="t">
            <a:noAutofit/>
          </a:bodyPr>
          <a:lstStyle/>
          <a:p>
            <a:r>
              <a:rPr lang="en-US" dirty="0"/>
              <a:t>6. Front-end Development </a:t>
            </a:r>
          </a:p>
        </p:txBody>
      </p:sp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323405" y="3816336"/>
            <a:ext cx="11545190" cy="2666618"/>
          </a:xfrm>
        </p:spPr>
        <p:txBody>
          <a:bodyPr anchor="b">
            <a:noAutofit/>
          </a:bodyPr>
          <a:lstStyle/>
          <a:p>
            <a:pPr lvl="0">
              <a:lnSpc>
                <a:spcPct val="110000"/>
              </a:lnSpc>
            </a:pPr>
            <a:r>
              <a:rPr lang="en-US" sz="2800" dirty="0"/>
              <a:t>UI/UX Design: Ensure the website is user-friendly and intuitive:Use wireframing tools like Figma or Sketch to design the interface.Keep forms simple for users to input property data.Provide clear call-to-actions (e.g., “Get Price Estimate”).</a:t>
            </a:r>
            <a:endParaRPr lang="en-IN" sz="2800" dirty="0"/>
          </a:p>
          <a:p>
            <a:pPr lvl="0">
              <a:lnSpc>
                <a:spcPct val="110000"/>
              </a:lnSpc>
            </a:pPr>
            <a:r>
              <a:rPr lang="en-US" sz="2800" dirty="0"/>
              <a:t>Front-End Framework:Use HTML/CSS/JavaScript for basic design.Use React or Vue.js for building more dynamic and responsive web pages.Use data visualization tools like Chart.js or D3.js to display price trends.</a:t>
            </a:r>
            <a:endParaRPr lang="en-IN" sz="2800" dirty="0"/>
          </a:p>
          <a:p>
            <a:pPr lvl="0">
              <a:lnSpc>
                <a:spcPct val="110000"/>
              </a:lnSpc>
            </a:pPr>
            <a:r>
              <a:rPr lang="en-US" sz="2800" dirty="0"/>
              <a:t>Responsiveness: Ensure the website is mobile-friendly and works well on all devices.</a:t>
            </a:r>
          </a:p>
        </p:txBody>
      </p:sp>
    </p:spTree>
    <p:extLst>
      <p:ext uri="{BB962C8B-B14F-4D97-AF65-F5344CB8AC3E}">
        <p14:creationId xmlns:p14="http://schemas.microsoft.com/office/powerpoint/2010/main" val="14857904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0C58FCB-AB15-8F2D-ECB3-614828E436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85725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451558" y="249305"/>
            <a:ext cx="11549942" cy="816065"/>
          </a:xfrm>
        </p:spPr>
        <p:txBody>
          <a:bodyPr anchor="t">
            <a:noAutofit/>
          </a:bodyPr>
          <a:lstStyle/>
          <a:p>
            <a:r>
              <a:rPr lang="en-US" dirty="0"/>
              <a:t>7. Integration of Machine Learning model </a:t>
            </a:r>
          </a:p>
        </p:txBody>
      </p:sp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451558" y="4191382"/>
            <a:ext cx="7078779" cy="2666618"/>
          </a:xfrm>
        </p:spPr>
        <p:txBody>
          <a:bodyPr anchor="b">
            <a:noAutofit/>
          </a:bodyPr>
          <a:lstStyle/>
          <a:p>
            <a:pPr lvl="0"/>
            <a:r>
              <a:rPr lang="en-US" sz="2800" dirty="0"/>
              <a:t>Deploy Model as API: Use Flask/Django to deploy your model, so the front end can interact with the model.</a:t>
            </a:r>
            <a:endParaRPr lang="en-IN" sz="2800" dirty="0"/>
          </a:p>
          <a:p>
            <a:pPr lvl="0"/>
            <a:r>
              <a:rPr lang="en-US" sz="2800" dirty="0"/>
              <a:t>Prediction Endpoint: Create an API endpoint that the front end will call to get price predictions based on input data.</a:t>
            </a:r>
            <a:endParaRPr lang="en-IN" sz="2800" dirty="0"/>
          </a:p>
          <a:p>
            <a:pPr lvl="0"/>
            <a:r>
              <a:rPr lang="en-US" sz="2800" dirty="0"/>
              <a:t>Model Hosting: Host the trained model and API on platforms like AWS, Heroku, or Google Cloud.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785CA8-55BA-F031-4CF6-0E44BB57B1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342" r="9342"/>
          <a:stretch/>
        </p:blipFill>
        <p:spPr>
          <a:xfrm>
            <a:off x="7620000" y="1268017"/>
            <a:ext cx="4572000" cy="5548792"/>
          </a:xfrm>
          <a:custGeom>
            <a:avLst/>
            <a:gdLst/>
            <a:ahLst/>
            <a:cxnLst/>
            <a:rect l="l" t="t" r="r" b="b"/>
            <a:pathLst>
              <a:path w="6096000" h="6858000">
                <a:moveTo>
                  <a:pt x="677913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677913" y="6858000"/>
                </a:lnTo>
                <a:cubicBezTo>
                  <a:pt x="303512" y="6858000"/>
                  <a:pt x="0" y="6554488"/>
                  <a:pt x="0" y="6180087"/>
                </a:cubicBezTo>
                <a:lnTo>
                  <a:pt x="0" y="677913"/>
                </a:lnTo>
                <a:cubicBezTo>
                  <a:pt x="0" y="303512"/>
                  <a:pt x="303512" y="0"/>
                  <a:pt x="677913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6269502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0C58FCB-AB15-8F2D-ECB3-614828E436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85725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 rot="10800000" flipV="1">
            <a:off x="2169474" y="470491"/>
            <a:ext cx="7853051" cy="949731"/>
          </a:xfrm>
        </p:spPr>
        <p:txBody>
          <a:bodyPr anchor="t">
            <a:noAutofit/>
          </a:bodyPr>
          <a:lstStyle/>
          <a:p>
            <a:r>
              <a:rPr lang="en-US" dirty="0"/>
              <a:t>8. Testing and Validation </a:t>
            </a:r>
          </a:p>
        </p:txBody>
      </p:sp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4232672" y="4212528"/>
            <a:ext cx="7686851" cy="2666618"/>
          </a:xfrm>
        </p:spPr>
        <p:txBody>
          <a:bodyPr anchor="b">
            <a:noAutofit/>
          </a:bodyPr>
          <a:lstStyle/>
          <a:p>
            <a:pPr lvl="0"/>
            <a:r>
              <a:rPr lang="en-US" sz="2800" dirty="0"/>
              <a:t>Unit Testing: Ensure each part of your code functions as expected (front-end, back-end, and machine learning model).</a:t>
            </a:r>
            <a:endParaRPr lang="en-IN" sz="2800" dirty="0"/>
          </a:p>
          <a:p>
            <a:pPr lvl="0"/>
            <a:r>
              <a:rPr lang="en-US" sz="2800" dirty="0"/>
              <a:t>Integration Testing: Check that all the components (front-end, back-end, and database) work well together.</a:t>
            </a:r>
            <a:endParaRPr lang="en-IN" sz="2800" dirty="0"/>
          </a:p>
          <a:p>
            <a:pPr lvl="0"/>
            <a:r>
              <a:rPr lang="en-US" sz="2800" dirty="0"/>
              <a:t>User Testing: Have potential users (e.g., real estate agents) test the website and provide feedback on usability and prediction accuracy.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1211B0-CB95-FC29-0615-58211D3019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80" r="1980"/>
          <a:stretch/>
        </p:blipFill>
        <p:spPr>
          <a:xfrm>
            <a:off x="54431" y="1640782"/>
            <a:ext cx="4178241" cy="5143493"/>
          </a:xfrm>
          <a:custGeom>
            <a:avLst/>
            <a:gdLst/>
            <a:ahLst/>
            <a:cxnLst/>
            <a:rect l="l" t="t" r="r" b="b"/>
            <a:pathLst>
              <a:path w="6096000" h="6858000">
                <a:moveTo>
                  <a:pt x="677913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677913" y="6858000"/>
                </a:lnTo>
                <a:cubicBezTo>
                  <a:pt x="303512" y="6858000"/>
                  <a:pt x="0" y="6554488"/>
                  <a:pt x="0" y="6180087"/>
                </a:cubicBezTo>
                <a:lnTo>
                  <a:pt x="0" y="677913"/>
                </a:lnTo>
                <a:cubicBezTo>
                  <a:pt x="0" y="303512"/>
                  <a:pt x="303512" y="0"/>
                  <a:pt x="677913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575226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0C58FCB-AB15-8F2D-ECB3-614828E436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85725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2142685" y="397114"/>
            <a:ext cx="7906629" cy="472873"/>
          </a:xfrm>
        </p:spPr>
        <p:txBody>
          <a:bodyPr anchor="t">
            <a:noAutofit/>
          </a:bodyPr>
          <a:lstStyle/>
          <a:p>
            <a:r>
              <a:rPr lang="en-US" dirty="0"/>
              <a:t>9. Deployment and Hosting </a:t>
            </a:r>
          </a:p>
        </p:txBody>
      </p:sp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189985" y="3794268"/>
            <a:ext cx="9143999" cy="2666618"/>
          </a:xfrm>
        </p:spPr>
        <p:txBody>
          <a:bodyPr anchor="b">
            <a:noAutofit/>
          </a:bodyPr>
          <a:lstStyle/>
          <a:p>
            <a:pPr lvl="0">
              <a:lnSpc>
                <a:spcPct val="110000"/>
              </a:lnSpc>
            </a:pPr>
            <a:r>
              <a:rPr lang="en-US" sz="2800" dirty="0"/>
              <a:t>Hosting Platforms: Use a web hosting platform like AWS, Heroku, or Google Cloud to host your website.</a:t>
            </a:r>
            <a:endParaRPr lang="en-IN" sz="2800" dirty="0"/>
          </a:p>
          <a:p>
            <a:pPr lvl="0">
              <a:lnSpc>
                <a:spcPct val="110000"/>
              </a:lnSpc>
            </a:pPr>
            <a:r>
              <a:rPr lang="en-US" sz="2800" dirty="0"/>
              <a:t>Domain Name: Purchase a domain name for your website (e.g., from GoDaddy or </a:t>
            </a:r>
            <a:r>
              <a:rPr lang="en-US" sz="2800" dirty="0" err="1"/>
              <a:t>Namecheap</a:t>
            </a:r>
            <a:r>
              <a:rPr lang="en-US" sz="2800" dirty="0"/>
              <a:t>).</a:t>
            </a:r>
            <a:endParaRPr lang="en-IN" sz="2800" dirty="0"/>
          </a:p>
          <a:p>
            <a:pPr lvl="0">
              <a:lnSpc>
                <a:spcPct val="110000"/>
              </a:lnSpc>
            </a:pPr>
            <a:r>
              <a:rPr lang="en-US" sz="2800" dirty="0"/>
              <a:t>SSL Certificate: Secure your website with an SSL certificate to ensure data encryption.</a:t>
            </a:r>
            <a:endParaRPr lang="en-IN" sz="2800" dirty="0"/>
          </a:p>
          <a:p>
            <a:pPr lvl="0">
              <a:lnSpc>
                <a:spcPct val="110000"/>
              </a:lnSpc>
            </a:pPr>
            <a:r>
              <a:rPr lang="en-US" sz="2800" dirty="0"/>
              <a:t>CI/CD Pipeline: Set up a Continuous Integration/Continuous Deployment pipeline using tools like GitHub Actions, Travis CI, or Jenkins to automate testing and deployment.</a:t>
            </a:r>
          </a:p>
        </p:txBody>
      </p:sp>
      <p:pic>
        <p:nvPicPr>
          <p:cNvPr id="6" name="Picture 5" descr="Computer script on a screen">
            <a:extLst>
              <a:ext uri="{FF2B5EF4-FFF2-40B4-BE49-F238E27FC236}">
                <a16:creationId xmlns:a16="http://schemas.microsoft.com/office/drawing/2014/main" id="{6AAAB1B0-33C2-74E2-3221-C3E209602B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86" r="38867" b="-3"/>
          <a:stretch/>
        </p:blipFill>
        <p:spPr>
          <a:xfrm>
            <a:off x="9161860" y="1330122"/>
            <a:ext cx="3018234" cy="5527877"/>
          </a:xfrm>
          <a:custGeom>
            <a:avLst/>
            <a:gdLst/>
            <a:ahLst/>
            <a:cxnLst/>
            <a:rect l="l" t="t" r="r" b="b"/>
            <a:pathLst>
              <a:path w="6096000" h="6858000">
                <a:moveTo>
                  <a:pt x="677913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677913" y="6858000"/>
                </a:lnTo>
                <a:cubicBezTo>
                  <a:pt x="303512" y="6858000"/>
                  <a:pt x="0" y="6554488"/>
                  <a:pt x="0" y="6180087"/>
                </a:cubicBezTo>
                <a:lnTo>
                  <a:pt x="0" y="677913"/>
                </a:lnTo>
                <a:cubicBezTo>
                  <a:pt x="0" y="303512"/>
                  <a:pt x="303512" y="0"/>
                  <a:pt x="677913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7971781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0C58FCB-AB15-8F2D-ECB3-614828E436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85725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755293" y="303609"/>
            <a:ext cx="10436707" cy="2326227"/>
          </a:xfrm>
        </p:spPr>
        <p:txBody>
          <a:bodyPr anchor="t">
            <a:normAutofit/>
          </a:bodyPr>
          <a:lstStyle/>
          <a:p>
            <a:r>
              <a:rPr lang="en-US" dirty="0"/>
              <a:t>10. Monitor and Maintenance </a:t>
            </a:r>
          </a:p>
        </p:txBody>
      </p:sp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4760092" y="3442680"/>
            <a:ext cx="7431908" cy="2666618"/>
          </a:xfrm>
        </p:spPr>
        <p:txBody>
          <a:bodyPr anchor="b">
            <a:noAutofit/>
          </a:bodyPr>
          <a:lstStyle/>
          <a:p>
            <a:pPr lvl="0"/>
            <a:r>
              <a:rPr lang="en-US" sz="2800" dirty="0"/>
              <a:t>Analytics: Use tools like Google Analytics to track user behavior and interaction with your site.</a:t>
            </a:r>
            <a:endParaRPr lang="en-IN" sz="2800" dirty="0"/>
          </a:p>
          <a:p>
            <a:pPr lvl="0"/>
            <a:r>
              <a:rPr lang="en-US" sz="2800" dirty="0"/>
              <a:t>Error Tracking: Use error tracking services like Sentry or LogRocket to catch and fix bugs in real time.</a:t>
            </a:r>
            <a:endParaRPr lang="en-IN" sz="2800" dirty="0"/>
          </a:p>
          <a:p>
            <a:pPr lvl="0"/>
            <a:r>
              <a:rPr lang="en-US" sz="2800" dirty="0"/>
              <a:t>Model Retraining: Periodically retrain the model as new real estate data becomes available to keep the predictions accurate.</a:t>
            </a:r>
          </a:p>
        </p:txBody>
      </p:sp>
      <p:pic>
        <p:nvPicPr>
          <p:cNvPr id="6" name="Picture 5" descr="A robot using a laptop sitting on a blue chair">
            <a:extLst>
              <a:ext uri="{FF2B5EF4-FFF2-40B4-BE49-F238E27FC236}">
                <a16:creationId xmlns:a16="http://schemas.microsoft.com/office/drawing/2014/main" id="{E141B85A-BEC0-5D8D-155B-4BF3C40150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001" r="-2" b="-2"/>
          <a:stretch/>
        </p:blipFill>
        <p:spPr>
          <a:xfrm rot="10800000" flipV="1">
            <a:off x="0" y="1250156"/>
            <a:ext cx="4572000" cy="5607844"/>
          </a:xfrm>
          <a:custGeom>
            <a:avLst/>
            <a:gdLst/>
            <a:ahLst/>
            <a:cxnLst/>
            <a:rect l="l" t="t" r="r" b="b"/>
            <a:pathLst>
              <a:path w="6096000" h="6858000">
                <a:moveTo>
                  <a:pt x="677913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677913" y="6858000"/>
                </a:lnTo>
                <a:cubicBezTo>
                  <a:pt x="303512" y="6858000"/>
                  <a:pt x="0" y="6554488"/>
                  <a:pt x="0" y="6180087"/>
                </a:cubicBezTo>
                <a:lnTo>
                  <a:pt x="0" y="677913"/>
                </a:lnTo>
                <a:cubicBezTo>
                  <a:pt x="0" y="303512"/>
                  <a:pt x="303512" y="0"/>
                  <a:pt x="677913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7344543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">
            <a:extLst>
              <a:ext uri="{FF2B5EF4-FFF2-40B4-BE49-F238E27FC236}">
                <a16:creationId xmlns:a16="http://schemas.microsoft.com/office/drawing/2014/main" id="{E7ECB981-2B6A-8443-2133-86C9419144D7}"/>
              </a:ext>
            </a:extLst>
          </p:cNvPr>
          <p:cNvGraphicFramePr>
            <a:graphicFrameLocks noGrp="1"/>
          </p:cNvGraphicFramePr>
          <p:nvPr>
            <p:ph type="pic" idx="1"/>
            <p:extLst>
              <p:ext uri="{D42A27DB-BD31-4B8C-83A1-F6EECF244321}">
                <p14:modId xmlns:p14="http://schemas.microsoft.com/office/powerpoint/2010/main" val="865033915"/>
              </p:ext>
            </p:extLst>
          </p:nvPr>
        </p:nvGraphicFramePr>
        <p:xfrm>
          <a:off x="5105400" y="838200"/>
          <a:ext cx="6249988" cy="5181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Title 6">
            <a:extLst>
              <a:ext uri="{FF2B5EF4-FFF2-40B4-BE49-F238E27FC236}">
                <a16:creationId xmlns:a16="http://schemas.microsoft.com/office/drawing/2014/main" id="{7C0B8281-552B-4335-B0D0-8DC0D30B6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6144" y="248840"/>
            <a:ext cx="7699712" cy="1178719"/>
          </a:xfrm>
        </p:spPr>
        <p:txBody>
          <a:bodyPr>
            <a:noAutofit/>
          </a:bodyPr>
          <a:lstStyle/>
          <a:p>
            <a:r>
              <a:rPr lang="en-IN" sz="4400" dirty="0"/>
              <a:t>Tools and Technologies </a:t>
            </a:r>
            <a:br>
              <a:rPr lang="en-IN" sz="4400" dirty="0"/>
            </a:br>
            <a:endParaRPr lang="en-US" sz="4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1F9892-2B9E-4F9E-9D14-5B7A457AEEE8}"/>
              </a:ext>
            </a:extLst>
          </p:cNvPr>
          <p:cNvSpPr txBox="1"/>
          <p:nvPr/>
        </p:nvSpPr>
        <p:spPr>
          <a:xfrm>
            <a:off x="408269" y="1164134"/>
            <a:ext cx="864881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/>
              <a:t>Technology Stack Summary:</a:t>
            </a:r>
          </a:p>
          <a:p>
            <a:pPr algn="l"/>
            <a:endParaRPr lang="en-IN" sz="28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sz="2800" dirty="0"/>
              <a:t>Front-end: HTML, CSS, JavaScript(React/</a:t>
            </a:r>
            <a:r>
              <a:rPr lang="en-IN" sz="2800" dirty="0" err="1"/>
              <a:t>Vue.js</a:t>
            </a:r>
            <a:r>
              <a:rPr lang="en-IN" sz="2800" dirty="0"/>
              <a:t>)</a:t>
            </a:r>
          </a:p>
          <a:p>
            <a:pPr algn="l"/>
            <a:endParaRPr lang="en-IN" sz="28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sz="2800" dirty="0"/>
              <a:t>Back-end: Python (Flask/Django), </a:t>
            </a:r>
            <a:r>
              <a:rPr lang="en-IN" sz="2800" dirty="0" err="1"/>
              <a:t>Node.js</a:t>
            </a:r>
            <a:endParaRPr lang="en-IN" sz="2800" dirty="0"/>
          </a:p>
          <a:p>
            <a:pPr algn="l"/>
            <a:endParaRPr lang="en-IN" sz="28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sz="2800" dirty="0"/>
              <a:t>Database: PostgreSQL/MySQL, MongoDB </a:t>
            </a:r>
          </a:p>
          <a:p>
            <a:pPr algn="l"/>
            <a:endParaRPr lang="en-IN" sz="28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sz="2800" dirty="0" err="1"/>
              <a:t>Modeling</a:t>
            </a:r>
            <a:r>
              <a:rPr lang="en-IN" sz="2800" dirty="0"/>
              <a:t>: </a:t>
            </a:r>
            <a:r>
              <a:rPr lang="en-IN" sz="2800" dirty="0" err="1"/>
              <a:t>Scikit</a:t>
            </a:r>
            <a:r>
              <a:rPr lang="en-IN" sz="2800" dirty="0"/>
              <a:t>-learn, </a:t>
            </a:r>
            <a:r>
              <a:rPr lang="en-IN" sz="2800" dirty="0" err="1"/>
              <a:t>TensorFlow</a:t>
            </a:r>
            <a:r>
              <a:rPr lang="en-IN" sz="2800" dirty="0"/>
              <a:t>, </a:t>
            </a:r>
            <a:r>
              <a:rPr lang="en-IN" sz="2800" dirty="0" err="1"/>
              <a:t>XGBoostHosting</a:t>
            </a:r>
            <a:r>
              <a:rPr lang="en-IN" sz="2800" dirty="0"/>
              <a:t>: AWS, Google Cloud, </a:t>
            </a:r>
            <a:r>
              <a:rPr lang="en-IN" sz="2800" dirty="0" err="1"/>
              <a:t>Heroku</a:t>
            </a:r>
            <a:endParaRPr lang="en-IN" sz="2800" dirty="0"/>
          </a:p>
          <a:p>
            <a:pPr algn="l"/>
            <a:endParaRPr lang="en-IN" sz="2800" dirty="0"/>
          </a:p>
          <a:p>
            <a:pPr algn="l"/>
            <a:endParaRPr lang="en-US" sz="2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0A183B-061E-042E-A7BD-0BD9F473CBCE}"/>
              </a:ext>
            </a:extLst>
          </p:cNvPr>
          <p:cNvSpPr txBox="1"/>
          <p:nvPr/>
        </p:nvSpPr>
        <p:spPr>
          <a:xfrm flipH="1">
            <a:off x="661476" y="5645051"/>
            <a:ext cx="1086904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/>
              <a:t>By following these steps, you will be able to create a functional website that predicts real estate prices based on user input.</a:t>
            </a:r>
          </a:p>
          <a:p>
            <a:pPr algn="l"/>
            <a:r>
              <a:rPr lang="en-IN" dirty="0"/>
              <a:t>
</a:t>
            </a:r>
          </a:p>
          <a:p>
            <a:pPr algn="l"/>
            <a:endParaRPr lang="en-IN" dirty="0"/>
          </a:p>
          <a:p>
            <a:pPr algn="l"/>
            <a:endParaRPr lang="en-US" sz="28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ADFA0C7-7C78-85CE-97A5-285716B21BD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9690" y="838199"/>
            <a:ext cx="2522310" cy="4698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248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1C45D4-C343-36EF-6E18-9340CC3F3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14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9B79066-380A-2B8B-15B0-D77ED3C24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406313" cy="696234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96B6F47-EF66-DE0F-0DF6-A31C30F43634}"/>
              </a:ext>
            </a:extLst>
          </p:cNvPr>
          <p:cNvSpPr txBox="1"/>
          <p:nvPr/>
        </p:nvSpPr>
        <p:spPr>
          <a:xfrm rot="10800000" flipV="1">
            <a:off x="2178844" y="2661047"/>
            <a:ext cx="4941689" cy="50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897689-0CDD-A621-9171-7736981521D7}"/>
              </a:ext>
            </a:extLst>
          </p:cNvPr>
          <p:cNvSpPr txBox="1"/>
          <p:nvPr/>
        </p:nvSpPr>
        <p:spPr>
          <a:xfrm>
            <a:off x="381298" y="273385"/>
            <a:ext cx="571470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3200" dirty="0">
                <a:solidFill>
                  <a:schemeClr val="bg1"/>
                </a:solidFill>
              </a:rPr>
              <a:t>Team Techies</a:t>
            </a:r>
          </a:p>
          <a:p>
            <a:pPr algn="l"/>
            <a:endParaRPr lang="en-IN" sz="3200" dirty="0">
              <a:solidFill>
                <a:schemeClr val="bg1"/>
              </a:solidFill>
            </a:endParaRPr>
          </a:p>
          <a:p>
            <a:pPr algn="l"/>
            <a:r>
              <a:rPr lang="en-IN" sz="3200" dirty="0">
                <a:solidFill>
                  <a:schemeClr val="bg1"/>
                </a:solidFill>
              </a:rPr>
              <a:t>CSE department,3</a:t>
            </a:r>
            <a:r>
              <a:rPr lang="en-IN" sz="3200" baseline="30000" dirty="0">
                <a:solidFill>
                  <a:schemeClr val="bg1"/>
                </a:solidFill>
              </a:rPr>
              <a:t>rd</a:t>
            </a:r>
            <a:r>
              <a:rPr lang="en-IN" sz="3200" dirty="0">
                <a:solidFill>
                  <a:schemeClr val="bg1"/>
                </a:solidFill>
              </a:rPr>
              <a:t> year</a:t>
            </a:r>
            <a:r>
              <a:rPr lang="en-IN" sz="3200" dirty="0"/>
              <a:t>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795803276"/>
      </p:ext>
    </p:extLst>
  </p:cSld>
  <p:clrMapOvr>
    <a:masterClrMapping/>
  </p:clrMapOvr>
</p:sld>
</file>

<file path=ppt/theme/theme1.xml><?xml version="1.0" encoding="utf-8"?>
<a:theme xmlns:a="http://schemas.openxmlformats.org/drawingml/2006/main" name="DylanVTI">
  <a:themeElements>
    <a:clrScheme name="AnalogousFromLightSeed_2SEEDS">
      <a:dk1>
        <a:srgbClr val="000000"/>
      </a:dk1>
      <a:lt1>
        <a:srgbClr val="FFFFFF"/>
      </a:lt1>
      <a:dk2>
        <a:srgbClr val="243541"/>
      </a:dk2>
      <a:lt2>
        <a:srgbClr val="E8E2E2"/>
      </a:lt2>
      <a:accent1>
        <a:srgbClr val="74A9AA"/>
      </a:accent1>
      <a:accent2>
        <a:srgbClr val="81AA9A"/>
      </a:accent2>
      <a:accent3>
        <a:srgbClr val="85A5BD"/>
      </a:accent3>
      <a:accent4>
        <a:srgbClr val="BA807F"/>
      </a:accent4>
      <a:accent5>
        <a:srgbClr val="BC9B82"/>
      </a:accent5>
      <a:accent6>
        <a:srgbClr val="AAA274"/>
      </a:accent6>
      <a:hlink>
        <a:srgbClr val="AE6A69"/>
      </a:hlink>
      <a:folHlink>
        <a:srgbClr val="7F7F7F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ylanVTI" id="{602636BD-A055-489B-83EC-AD971B7E5F9C}" vid="{CD33A9BC-C4B5-4F36-8A14-490DC4E38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14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DylanVTI</vt:lpstr>
      <vt:lpstr>PowerPoint Presentation</vt:lpstr>
      <vt:lpstr>Real Estate Price Prediction Website </vt:lpstr>
      <vt:lpstr>1. Research and Planning </vt:lpstr>
      <vt:lpstr>2. Data Collection </vt:lpstr>
      <vt:lpstr>3. Data Cleaning and Pre -processing </vt:lpstr>
      <vt:lpstr>4. Developing the Price Prediction model </vt:lpstr>
      <vt:lpstr>5. Back-end  Development </vt:lpstr>
      <vt:lpstr>6. Front-end Development </vt:lpstr>
      <vt:lpstr>7. Integration of Machine Learning model </vt:lpstr>
      <vt:lpstr>8. Testing and Validation </vt:lpstr>
      <vt:lpstr>9. Deployment and Hosting </vt:lpstr>
      <vt:lpstr>10. Monitor and Maintenance </vt:lpstr>
      <vt:lpstr>Tools and Technologies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Estate Price Prediction Website </dc:title>
  <dc:creator>THARUN DUMAL</dc:creator>
  <cp:lastModifiedBy>THARUN DUMAL</cp:lastModifiedBy>
  <cp:revision>9</cp:revision>
  <dcterms:created xsi:type="dcterms:W3CDTF">2024-10-19T11:05:30Z</dcterms:created>
  <dcterms:modified xsi:type="dcterms:W3CDTF">2024-10-19T18:07:59Z</dcterms:modified>
</cp:coreProperties>
</file>